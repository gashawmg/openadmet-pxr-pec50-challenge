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LB MAE</c:v>
                </c:pt>
              </c:strCache>
            </c:strRef>
          </c:tx>
          <c:spPr>
            <a:solidFill>
              <a:srgbClr val="9DC5D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delta&gt;1.5
(2,948)</c:v>
                  </c:pt>
                  <c:pt idx="1">
                    <c:v>delta&gt;0 ✓
(3,743)</c:v>
                  </c:pt>
                  <c:pt idx="2">
                    <c:v>+ChEMBL
(3,780)</c:v>
                  </c:pt>
                  <c:pt idx="3">
                    <c:v>Relaxed
(4,054)</c:v>
                  </c:pt>
                  <c:pt idx="4">
                    <c:v>Unfiltered
(4,139)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0.4794</c:v>
                </c:pt>
                <c:pt idx="1">
                  <c:v>0.4622</c:v>
                </c:pt>
                <c:pt idx="2">
                  <c:v>0.5051</c:v>
                </c:pt>
                <c:pt idx="3">
                  <c:v>0.4809</c:v>
                </c:pt>
                <c:pt idx="4">
                  <c:v>0.5095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.42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compounds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
(&lt;4.0)</c:v>
                  </c:pt>
                  <c:pt idx="1">
                    <c:v>Moderate
(4–5.5)</c:v>
                  </c:pt>
                  <c:pt idx="2">
                    <c:v>Potent
(&gt;5.5)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</c:v>
                </c:pt>
                <c:pt idx="1">
                  <c:v>63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of RAE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
(&lt;4.0)</c:v>
                  </c:pt>
                  <c:pt idx="1">
                    <c:v>Moderate
(4–5.5)</c:v>
                  </c:pt>
                  <c:pt idx="2">
                    <c:v>Potent
(&gt;5.5)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</c:v>
                </c:pt>
                <c:pt idx="1">
                  <c:v>28</c:v>
                </c:pt>
                <c:pt idx="2">
                  <c:v>12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solidFill>
                <a:srgbClr val="0A3D5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Holdout-30 RAE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D4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UniMol aug2</c:v>
                  </c:pt>
                  <c:pt idx="1">
                    <c:v>p13d patience-25</c:v>
                  </c:pt>
                  <c:pt idx="2">
                    <c:v>p13d patience-50</c:v>
                  </c:pt>
                  <c:pt idx="3">
                    <c:v>p44 patience-25</c:v>
                  </c:pt>
                  <c:pt idx="4">
                    <c:v>pp50 patience-50 ★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0.5282</c:v>
                </c:pt>
                <c:pt idx="1">
                  <c:v>0.5463</c:v>
                </c:pt>
                <c:pt idx="2">
                  <c:v>0.5582</c:v>
                </c:pt>
                <c:pt idx="3">
                  <c:v>0.4646</c:v>
                </c:pt>
                <c:pt idx="4">
                  <c:v>0.4641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8"/>
          <c:min val="0.43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Grid Search — Holdout-30 RAE (lower =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Holdout-30 RAE</c:v>
                </c:pt>
              </c:strCache>
            </c:strRef>
          </c:tx>
          <c:spPr>
            <a:solidFill>
              <a:srgbClr val="9DC5D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v2: 60/36/4</c:v>
                  </c:pt>
                  <c:pt idx="1">
                    <c:v>60/20/20</c:v>
                  </c:pt>
                  <c:pt idx="2">
                    <c:v>65/20/15</c:v>
                  </c:pt>
                  <c:pt idx="3">
                    <c:v>70/20/10</c:v>
                  </c:pt>
                  <c:pt idx="4">
                    <c:v>75/15/10 ★</c:v>
                  </c:pt>
                  <c:pt idx="5">
                    <c:v>80/10/10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0.4499</c:v>
                </c:pt>
                <c:pt idx="1">
                  <c:v>0.4523</c:v>
                </c:pt>
                <c:pt idx="2">
                  <c:v>0.4502</c:v>
                </c:pt>
                <c:pt idx="3">
                  <c:v>0.4481</c:v>
                </c:pt>
                <c:pt idx="4">
                  <c:v>0.4471</c:v>
                </c:pt>
                <c:pt idx="5">
                  <c:v>0.4475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6"/>
          <c:min val="0.444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Compound-level Δ|error| vs pp50 alone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 (blinded 260)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 &lt;4.0
(n=27)</c:v>
                  </c:pt>
                  <c:pt idx="1">
                    <c:v>Moderate 4–5.5
(n=172)</c:v>
                  </c:pt>
                  <c:pt idx="2">
                    <c:v>Potent &gt;5.5
(n=61)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</c:v>
                </c:pt>
                <c:pt idx="1">
                  <c:v>172</c:v>
                </c:pt>
                <c:pt idx="2">
                  <c:v>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|error| saved vs pp50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 &lt;4.0
(n=27)</c:v>
                  </c:pt>
                  <c:pt idx="1">
                    <c:v>Moderate 4–5.5
(n=172)</c:v>
                  </c:pt>
                  <c:pt idx="2">
                    <c:v>Potent &gt;5.5
(n=61)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0.107</c:v>
                </c:pt>
                <c:pt idx="1">
                  <c:v>4.487</c:v>
                </c:pt>
                <c:pt idx="2">
                  <c:v>-0.732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Prediction Counts by Activity Region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Phase 1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Inactive
(&lt;4.0)</c:v>
                  </c:pt>
                  <c:pt idx="1">
                    <c:v>Moderate
(4–5.5)</c:v>
                  </c:pt>
                  <c:pt idx="2">
                    <c:v>Potent
(&gt;5.5)</c:v>
                  </c:pt>
                  <c:pt idx="3">
                    <c:v>Very Potent
(&gt;6.0)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</c:v>
                </c:pt>
                <c:pt idx="1">
                  <c:v>201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Phase 2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Inactive
(&lt;4.0)</c:v>
                  </c:pt>
                  <c:pt idx="1">
                    <c:v>Moderate
(4–5.5)</c:v>
                  </c:pt>
                  <c:pt idx="2">
                    <c:v>Potent
(&gt;5.5)</c:v>
                  </c:pt>
                  <c:pt idx="3">
                    <c:v>Very Potent
(&gt;6.0)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</c:v>
                </c:pt>
                <c:pt idx="1">
                  <c:v>172</c:v>
                </c:pt>
                <c:pt idx="2">
                  <c:v>60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RAE Progression Through Phase 2 (Holdout-30)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RAE</c:v>
                </c:pt>
              </c:strCache>
            </c:strRef>
          </c:tx>
          <c:spPr>
            <a:solidFill>
              <a:srgbClr val="028090"/>
            </a:solidFill>
            <a:ln w="3810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Phase 1
(on Set 1)</c:v>
                  </c:pt>
                  <c:pt idx="1">
                    <c:v>Aug2 baseline
50/25/25</c:v>
                  </c:pt>
                  <c:pt idx="2">
                    <c:v>v2
60/36/4</c:v>
                  </c:pt>
                  <c:pt idx="3">
                    <c:v>FINAL
75/15/10 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0.5589</c:v>
                </c:pt>
                <c:pt idx="1">
                  <c:v>0.4811</c:v>
                </c:pt>
                <c:pt idx="2">
                  <c:v>0.4499</c:v>
                </c:pt>
                <c:pt idx="3">
                  <c:v>0.4471</c:v>
                </c:pt>
              </c:numCache>
            </c:numRef>
          </c:val>
          <c:smooth val="0"/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8"/>
          <c:min val="0.4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Mean MAE (bootstrap)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Gashaw  (#9)</c:v>
                  </c:pt>
                  <c:pt idx="1">
                    <c:v>matcha-croissant  (#1)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0.4213</c:v>
                </c:pt>
                <c:pt idx="1">
                  <c:v>0.4061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.38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Title: PXR pEC50 prediction, OpenADMET blind challenge. Final rank #9/100+ qualifying teams (Phase 2 leaderboard). Phase 1 rank 39. 3-model ensemble, all open-source.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PXR biology and challenge setup. Three serious consequences of PXR activation. Two-phase design with RAE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set selection: delta&gt;0 filter (3,743 cpds) is optimal. External data hurts due to assay heterogeneity.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progression: Classical ML baseline, Chemprop D-MPNN with PXR descriptors, UniMol 3D transformer.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OOF CV is unreliable here. SC pre-training: best OOF = worst LB. External data, MAE loss, calibration all hurt the leaderboard.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result: Rank 39, MAE 0.4468. Limitation: range-compressed predictions, missing potent extremes and inactives.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Diagnosis: 22% of compounds (inactives) drove 60% of RAE. Two fixes: asymmetric BCE architecture and data augmentation with confirmed inactives and high-potency hits.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Asymmetric BCE: gradient only for inactive compounds. Symmetric BCE hurts potent predictions. This is the key Phase 2 architectural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fixes: data leakage (exclude holdout-30) and deduplication. pp50 (patience=50) is best single model at 0.4641.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models: pp50 (general regression, 75%), p13d (inactive discrimination, 15%), UniMol (3D geometry, 10%). Pearson r pp50-UniMol=0.919 confirms genuine complementarity.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75/15/10 found by grid search. Reducing p13d from 36% to 15% is the key move. Moderate compounds (65%) dominate the net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expands prediction range both ways. 8 more inactives, 22 more potents identified. Moderate compounds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submission: LB rank #9/100+, RAE 0.5841, MAE 0.4213, Spearman 0.8028. Holdout-30 proxy was 0.4471. Clear improvement progression from Phase 1 through aug2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Bootstrap head-to-head: Gashaw MAE 0.4213±0.0296 vs matcha-croissant 0.4061±0.0280. p=0.402, not significant even without HB correction. Delta MAE only 0.015, smaller than 1 SD.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three achievements, four key lessons (OOF unreliability is #1), four future directions.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Predicting PXR Induction Potency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4360" y="166420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Blind Challenge  ·  Phase 1 &amp; Phase 2  ·  June 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94360" y="2176272"/>
            <a:ext cx="347472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#9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Rank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leaderboard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633472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33472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#39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33472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Rank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33472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30-place improvement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72584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75/15/10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72584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Blend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72584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pp50 / p13d / UniMol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11696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11696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11696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· UniMol · RDKit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0" y="48188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Gashaw  ·  June 2026  ·  Open-source: Chemprop, UniMol, RDKit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PXR — Why This Problem Matters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Pregnane X Receptor (PXR)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88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Drug-Drug Interactions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1790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PXR activation upregulates CYP3A4 — responsible for ~50% of all drug metabolism. Co-administered drugs may fall below therapeutic thresholds.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258568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350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Hepatotoxicity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6791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CYP3A4 flux generates reactive metabolic intermediates that can directly damage hepatocytes.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419856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511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Chemoresistance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840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PXR-expressing tumours use enhanced CYP3A4 to accelerate clearance of oncology agents, reducing efficacy.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658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 Structure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109728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11887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Assay Design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Single-protocol cell-based reporter assay. 11,000+ compounds screened. Paired counter-screen removes non-specific activators. 63 selective hits → Enamine analog expansion → 513 blind test compounds.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258568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92040" y="2350008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260604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1 – May 25, 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825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prediction for all 513 compounds. Live leaderboard.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342900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92040" y="3520440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92040" y="37764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26 – Jul 1, 2026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99592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 Set 1 labels unblinded. Refine predictions for 260 blinded Set 2.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4645152"/>
            <a:ext cx="4114800" cy="347472"/>
          </a:xfrm>
          <a:prstGeom prst="roundRect">
            <a:avLst>
              <a:gd name="adj" fmla="val 13158"/>
            </a:avLst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6451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RAE = Σ|y−ŷ| / Σ|y−ȳ|  (lower is better)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Finding the Right Training Set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Screening Funnel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14800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05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Screen — 11,362 compounds @ 10/30 µM  ·  Hit rate ~17%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1554480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29768" y="1719072"/>
            <a:ext cx="3986784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719072"/>
            <a:ext cx="3712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— 4,325 compounds, 8-point EC50 fitting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23160" y="2267712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93776" y="2432304"/>
            <a:ext cx="3858768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" y="2432304"/>
            <a:ext cx="3584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~211 active hits (pEC50 ≥ 6)  →  counter-screen filter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2980944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57784" y="3145536"/>
            <a:ext cx="3730752" cy="548640"/>
          </a:xfrm>
          <a:prstGeom prst="roundRect">
            <a:avLst>
              <a:gd name="adj" fmla="val 8333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3145536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selective hits  →  Enamine analog expansion  →  513 test compounds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63440" y="6400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 Set Selection — Leaderboard MAE by Filter</a:t>
            </a:r>
            <a:endParaRPr lang="en-US" sz="13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0" y="960120"/>
          <a:ext cx="4251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365760" y="3913632"/>
            <a:ext cx="8412480" cy="841248"/>
          </a:xfrm>
          <a:prstGeom prst="roundRect">
            <a:avLst>
              <a:gd name="adj" fmla="val 6522"/>
            </a:avLst>
          </a:prstGeom>
          <a:solidFill>
            <a:srgbClr val="D6F5ED"/>
          </a:solidFill>
          <a:ln w="15240">
            <a:solidFill>
              <a:srgbClr val="02C39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3986784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920240" y="4005072"/>
            <a:ext cx="6583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clean_train2 (3,743 compounds, selectivity delta &gt; 0) was the optimal Phase 1 training set. Adding ANY compounds beyond this — external ChEMBL data (150+ assay protocols), relaxed filters, or hand-picked outliers — degraded leaderboard performance in every experiment.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Journey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92608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4048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2336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Classical ML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02336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02336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HistGB + SVR meta-learner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 descriptors + ECFP4 fingerprints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2336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2336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0.5196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2336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0.7258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2336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2336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02336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a ceiling — 16% MAE gap vs. final ensemble established the need for graph neural networks.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91840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IMPROVEMENT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10128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Chemprop D-MPNN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310128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message-passing neural network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+ 61 PXR-specific RDKit descriptors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activity-stratified scaffold CV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10128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10128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310128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0.4622  (↓11.4%)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10128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0.8137  (↑12%)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0128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10128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10128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PXR descriptors alone cut MAE 9.4%. Expanded dataset (2,948→3,743): −3.6% more. Scaffold CV &gt; random CV.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08192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99632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99632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SINGLE MODEL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3D Transformer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217920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217920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84M param SE(3)-invariant transformer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Pre-trained: 200M molecular conformers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ETKDG v3 3D input · 8-fold scaffold CV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217920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217920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0.4615  (Rank 33)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217920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0.8306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17920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217920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conformer geometry captures inter-atomic distances and steric contacts invisible to 2D graph networks.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LESSONS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Did Not Work — and Why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603504"/>
            <a:ext cx="8595360" cy="329184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603504"/>
            <a:ext cx="292608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310128" y="603504"/>
            <a:ext cx="91440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MAE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279392" y="603504"/>
            <a:ext cx="82296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MAE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157216" y="603504"/>
            <a:ext cx="59436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806440" y="603504"/>
            <a:ext cx="301752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969264"/>
            <a:ext cx="8595360" cy="493776"/>
          </a:xfrm>
          <a:prstGeom prst="rect">
            <a:avLst/>
          </a:prstGeom>
          <a:solidFill>
            <a:srgbClr val="D6F5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" y="10241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v4_3_3 MSE baseline ✓ (Phase 1 ceiling)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28416" y="1024128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0.4420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97680" y="1024128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0.4622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75504" y="10241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24728" y="102412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floor — do not sacrifice this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499616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15544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/ L1 loss instead of MSE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28416" y="1554480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0.4369 ↓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297680" y="1554480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0.4674 ↑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175504" y="15544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24728" y="1554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OOF, worse LB — MAE loss median-pulls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029968"/>
            <a:ext cx="85953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208483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binary pre-training then fine-tune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28416" y="2084832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0.4338 ↓↓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297680" y="2084832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0.4943 ↑↑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75504" y="208483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24728" y="208483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OOF ever = worst LB ever. Binary labels cannot teach pEC50 discrimination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560320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61518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+ 37 ChEMBL compounds (external)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328416" y="2615184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0.4463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97680" y="2615184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0.5051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175504" y="261518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24728" y="2615184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 assay protocols → systematic offsets learned as signal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090672"/>
            <a:ext cx="85953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7472" y="314553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Hand-picked +5 high-potency compounds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328416" y="3145536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0.4396 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297680" y="3145536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0.4751 ↑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175504" y="314553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24728" y="3145536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OOF/LB gap = 0.036 — largest observed in any experiment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3621024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472" y="367588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Piecewise stretch post-processing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328416" y="3675888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297680" y="3675888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↑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75504" y="367588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824728" y="36758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is distributional, not calibration error — cannot be fixed by PCHIP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4224528"/>
            <a:ext cx="8595360" cy="6858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29768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 insight: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920240" y="429768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cross-validation is an unreliable proxy for leaderboard performance in this analog-expansion design. Every technique that lowered OOF MAE degraded leaderboard MAE. The SC pre-training — best OOF ever, worst LB ever (rank 108) — is the clearest proof. Treat the blind test as the only real signal.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Ensemble &amp; Leaderboard Performance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 Ensemble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56432" y="1188720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18872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 8-fold  (Kaggle T4×2)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3,743 compounds · LB MAE 0.4615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65760" y="1938528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56432" y="2121408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2121408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20299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Chemprop  10-fold scaffold CV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37744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3,743 compounds · LB MAE 0.4622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71216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4A90A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6432" y="3054096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4A90A0"/>
          </a:solidFill>
          <a:ln w="12700">
            <a:solidFill>
              <a:srgbClr val="4A90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3054096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29626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 7-fold  (subset)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331012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1,948 compounds · diverse error profile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0" y="2423160"/>
            <a:ext cx="502920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64008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Results — 513 Blind Compounds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5488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0.4468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75488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0.5606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21792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8096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0.5459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768096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4880" y="201168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754880" y="210312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0.8463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4754880" y="260604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01168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217920" y="210312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#39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217920" y="260604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3703320"/>
            <a:ext cx="4069080" cy="10972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378561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 identified in Phase 2: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37760" y="404164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were range-compressed (std=0.567 on 260 blinded compounds). Only 19 of 260 blinded compounds predicted as inactive (&lt;4.0); zero predicted above pEC50 6.0. Phase 2 would address this by training on Set 1 labels including high-potency compounds.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Unblinded Labels Revealed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2057400"/>
          </a:xfrm>
          <a:prstGeom prst="roundRect">
            <a:avLst>
              <a:gd name="adj" fmla="val 3556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74980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test compounds (pEC50 &lt; 4.0, inactives)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95681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drove  60%  of total RAE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over-prediction: +0.97 pEC50 units</a:t>
            </a:r>
            <a:endParaRPr lang="en-US" sz="10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0" y="658368"/>
          <a:ext cx="425196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365760" y="28346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Cause &amp; Phase 2 Response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5760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48640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Inactives share 2D scaffold topology with active training compounds (ECFP4 Tanimoto ≥ 0.5). A pure MSE regression loss has no mechanism to discriminate them — they look 'active' to the model.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64408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447288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Architectural Fix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447288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MultitaskMPNN with asymmetric BCE classification head trained simultaneously with regression. Penalises only false positives (inactives called active) — preserving the potency ceiling.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63056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345936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Fix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45936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300 confirmed sc_inactives (pseudo-pEC50=2.0, 3× weight in Chemprop) to anchor the low end. Added 244 secondary screen hits (pEC50≥5.5) to anchor the high end.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MultitaskMPNN with Asymmetric BCE Head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EBF6F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7498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(SMILES)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65960" y="1046988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0" y="658368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D6EE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6583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BondMessagePassing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(D-MPNN, 6 steps)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768-dim hidden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26280" y="1046988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0" y="658368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D6EE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65836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MLP trunk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layers, dropout 0.2)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804672"/>
            <a:ext cx="25603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14032" y="804672"/>
            <a:ext cx="0" cy="493776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14032" y="804672"/>
            <a:ext cx="292608" cy="0"/>
          </a:xfrm>
          <a:prstGeom prst="line">
            <a:avLst/>
          </a:prstGeom>
          <a:noFill/>
          <a:ln w="15240">
            <a:solidFill>
              <a:srgbClr val="02C3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4032" y="1298448"/>
            <a:ext cx="292608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612648"/>
            <a:ext cx="1417320" cy="475488"/>
          </a:xfrm>
          <a:prstGeom prst="roundRect">
            <a:avLst>
              <a:gd name="adj" fmla="val 9615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61264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reg_head → pEC50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(MSE, all compounds)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06640" y="1115568"/>
            <a:ext cx="1417320" cy="475488"/>
          </a:xfrm>
          <a:prstGeom prst="roundRect">
            <a:avLst>
              <a:gd name="adj" fmla="val 961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11155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clf_head → is_active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(asymmetric BCE)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1618488"/>
            <a:ext cx="8503920" cy="685800"/>
          </a:xfrm>
          <a:prstGeom prst="roundRect">
            <a:avLst>
              <a:gd name="adj" fmla="val 8000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16733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 Loss: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783080" y="168249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total_loss  =  0.8 × MSE(reg_head, pEC50)  +  0.2 × BCE_asymmetric(clf_head, is_active)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0040" y="245059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Asymmetric?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2816352"/>
            <a:ext cx="4279392" cy="160020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28986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Symmetric BCE — the problem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3218688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Penalises both false positives (inactive→active) AND false negatives (active→inactive). The false-negative penalty drags ALL active embeddings downward — compressing the potency ceiling and worsening high-pEC50 predictions.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816352"/>
            <a:ext cx="4279392" cy="1600200"/>
          </a:xfrm>
          <a:prstGeom prst="roundRect">
            <a:avLst>
              <a:gd name="adj" fmla="val 4000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28986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Asymmetric BCE — the 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37760" y="3218688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loss computed ONLY for inactive compounds (pEC50 &lt; 4.0). Active compounds contribute zero classification gradient. One explicit lesson: do not encode inactives like actives — without any pressure on the potent distribution.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507992"/>
            <a:ext cx="8503920" cy="365760"/>
          </a:xfrm>
          <a:prstGeom prst="roundRect">
            <a:avLst>
              <a:gd name="adj" fmla="val 12500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4507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v4_13d asymmetric BCE achieved RAE 0.5636 vs 0.5755 (symmetric) · inactive bias reduced: +0.965 → +0.788 units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AUG2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 Retraining with Honest Holdout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Aug2 Training Set Construction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332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clean_train2.csv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10332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3,743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90672" y="103327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baseline (delta &gt; 0)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27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crude_nv_hi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87168" y="162763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90672" y="162763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hits pEC50 ≥ 5.5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19456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219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semi_nv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487168" y="22219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90672" y="22219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Semi-pure, purity-corrected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78892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8163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1 labels (222 of 253)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487168" y="28163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090672" y="281635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Unblinded analogs (30 held out)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38328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41071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sc_inactives  (Chemprop only)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487168" y="341071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+300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41071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Pseudo-pEC50=2.0 · weight 3×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406908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690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Total: 4,262 compounds  (deduplicated · holdout-30 excluded)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09160" y="6583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Critical Fixes Before Training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005840"/>
            <a:ext cx="4114800" cy="1207008"/>
          </a:xfrm>
          <a:prstGeom prst="roundRect">
            <a:avLst>
              <a:gd name="adj" fmla="val 454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10881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Data Leakage Fixed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135331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aug models included all 253 Set 1 labels in training — making holdout-30 RAE ~0.38 inflated and useless as a proxy. Fix: 30-compound stratified holdout completely excluded from all aug2 training.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09160" y="2331720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404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Deduplication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SMILES pairs had duplicate entries at different pEC50 values. Resolved by averaging → 4,265 → 4,262 rows.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09160" y="3090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Aug2 Models — Holdout-30 RAE</a:t>
            </a:r>
            <a:endParaRPr lang="en-US" sz="12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663440" y="3383280"/>
          <a:ext cx="4206240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BLEND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Models — Three Complementary Roles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560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070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pp50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v4_4_aug2_p50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D6EEF4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0.4641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D-MPNN · 10-fold scaffold CV · patience=50 · 61 PXR RDKit descriptors · 768-dim, 6 MPNN steps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pEC50 regression across the full activity range. Strongest single predictor — carries dominant weight.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657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bond graph only — cannot directly access 3D conformer geometry (distances, angles, steric contacts).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278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192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788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p13d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3375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v4_13d_aug2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3375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0.5463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375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MultitaskMPNN · shared D-MPNN trunk · parallel reg_head (MSE) + clf_head (asymmetric BCE) · same 768/6/4 config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375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75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3375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over-prediction — dominant Phase 2 error mode. Explicit discriminative boundary for pEC50 &lt; 4.0 without compressing potent predictions.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375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3375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loss splits gradient, making regression noisier than pp50 in all regions. Weight reduced from 36% (v2) to 15%.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996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910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910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1506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3093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aug2 · no sc_inactives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3093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D6F5ED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0.5282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3093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3093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84M param SE(3)-invariant transformer · pre-trained 200M conformers · ETKDG v3 3D input · 8-fold scaffold CV on Kaggle T4×2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3093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093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093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molecular geometry provides signal orthogonal to 2D graph. Most beneficial for the 65% moderate-activity compounds (pEC50 4–5.5) in the blinded test set.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3093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3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3093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output range. Over-predicts inactives +0.774 units on holdout-30. Diluted to 10% — bias contribution is only +0.046 per inactive.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OPTIMIZATION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75 / 15 / 10 is the Optimal Blend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160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572000" y="640080"/>
          <a:ext cx="4251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274320" y="3749040"/>
            <a:ext cx="8595360" cy="1143000"/>
          </a:xfrm>
          <a:prstGeom prst="roundRect">
            <a:avLst>
              <a:gd name="adj" fmla="val 4800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02920" y="3822192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blend works: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423160" y="3840480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p13d under-performs pp50 in EVERY region despite its asymmetric BCE head — reducing its weight from 36% to 15% is definitively correct.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423160" y="4169664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172 moderate compounds (66% of blinded set) save 4.487 total error units — far outweighing the potent cost (0.732) or inactive saving (0.107).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2423160" y="4498848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UniMol's inactive bias (+0.774 units) dilutes to only +0.046 per inactive at 10% weight — acceptable given the moderate-region gain.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COMPARISON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 vs Phase 2 — 260 Blinded Set 2 Compounds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0.952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overall agreement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6888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0.942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46888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rank-order preserved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−0.026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shift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1772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slightly lower overall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6656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 cpds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6656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|shift| &gt; 0.5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76656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 significantly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74320" y="1508760"/>
          <a:ext cx="41605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663440" y="15087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Regional Shift Analysis  (P2 − P1 mean)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187452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828032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  (&lt;4.0, n=19 in P1)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635240" y="19476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−0.375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828032" y="22128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3.604  →  P2 mean: 3.229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828032" y="241401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pushes inactives lower in 17/19 compounds. Asymmetric BCE + aug2 data correctly identifies true inactives.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663440" y="297180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4828032" y="30449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  (4–5.5, n=201 in P1)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635240" y="3044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−0.004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828032" y="33101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4.918  →  P2 mean: 4.914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828032" y="351129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identical — both phases agree well on the bulk 77% of the test set. Core predictions are stable.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406908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828032" y="414223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  (&gt;5.5, n=40 in P1)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635240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+0.027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4828032" y="44074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5.642  →  P2 mean: 5.669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828032" y="460857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pushes potents slightly higher in 27/40 compounds. Aug2 training on Set 1 labels breaks the Phase 1 ceiling.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663440" y="4590288"/>
            <a:ext cx="4160520" cy="320040"/>
          </a:xfrm>
          <a:prstGeom prst="roundRect">
            <a:avLst>
              <a:gd name="adj" fmla="val 14286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709160" y="4590288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range: P1 [3.07 – 5.80]  →  P2 [2.73 – 6.00]  ·  std: 0.567 → 0.714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SUBMISSION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 Leaderboard — Rank #9 / 100+ Teams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D6F5ED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#9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LB Rank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100+ qualifying teams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6888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0.5841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46888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RAE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leaderboard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0.4213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1772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MAE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1772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leaderboard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6656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0.8028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6656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Spearman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76656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rank-order correlation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74320" y="1572768"/>
          <a:ext cx="5029200" cy="28529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5532120" y="15727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 Details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0" y="1901952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577840" y="1901952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419088" y="1901952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submission_blend_751510.csv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486400" y="2386584"/>
            <a:ext cx="3337560" cy="44805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577840" y="2386584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19088" y="2386584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 total (253 Set 1 + 260 Set 2)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0" y="2871216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577840" y="2871216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419088" y="2871216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pp50 + 15% p13d + 10% UniMol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0" y="3355848"/>
            <a:ext cx="3337560" cy="44805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77840" y="3355848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Rank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419088" y="3355848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 / 100+ qualifying teams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486400" y="3840480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577840" y="3840480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RAE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6419088" y="3840480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0.5841  ·  LB MAE 0.4213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486400" y="4325112"/>
            <a:ext cx="3337560" cy="44805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77840" y="4325112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Spearman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419088" y="4325112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0.8028  ·  LB R² 0.5528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86400" y="4809744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577840" y="4809744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Holdout-30 RAE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419088" y="4809744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0.4471 (proxy, Set 1 labels)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vs. Rank #1 — No Significant Gap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658368"/>
            <a:ext cx="4160520" cy="1188720"/>
          </a:xfrm>
          <a:prstGeom prst="roundRect">
            <a:avLst>
              <a:gd name="adj" fmla="val 6154"/>
            </a:avLst>
          </a:prstGeom>
          <a:solidFill>
            <a:srgbClr val="D6F5ED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713232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 = 0.402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274320" y="138074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statistically significant  ·  HB-adjusted threshold: 0.0001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1938528"/>
          <a:ext cx="416052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547872" y="23042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0.0296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547872" y="27249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0.0280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74320" y="3712464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distribution: Gashaw equals or beats Rank #1 in 40% of samples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74320" y="3931920"/>
            <a:ext cx="1664208" cy="29260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38528" y="3931920"/>
            <a:ext cx="2496312" cy="292608"/>
          </a:xfrm>
          <a:prstGeom prst="rect">
            <a:avLst/>
          </a:prstGeom>
          <a:solidFill>
            <a:srgbClr val="4361A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4320" y="3931920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 Gashaw ≤ #1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938528" y="393192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 Gashaw &gt; #1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74320" y="4315968"/>
            <a:ext cx="4160520" cy="594360"/>
          </a:xfrm>
          <a:prstGeom prst="roundRect">
            <a:avLst>
              <a:gd name="adj" fmla="val 9231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" y="437997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Δ MAE = +0.0152  ·  &lt; one bootstrap SD (0.029)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11480" y="46177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 gap is a leaderboard artifact of a 260-compound test set — not a real performance gap.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663440" y="65836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828032" y="749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set too small to separate close competitors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828032" y="106070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Set 2 compounds with MAE SD ~0.029. All top-9 entries fall within one bootstrap SD of each other — statistically a single cluster.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63440" y="2048256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828032" y="21396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remaining gap lives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828032" y="245059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Inactives (pEC50 &lt; 4.0): our asymmetric BCE reduced but did not eliminate over-prediction bias. This is the one region where further work would help.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663440" y="3438144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828032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achieves statistical parity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828032" y="384048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+ UniMol + RDKit — no proprietary data, no private models — matches the rank #1 entry within the noise floor of the evaluation.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3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 &amp; Lessons Learned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2004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final rank #9 / 100+ qualifying teams · LB MAE 0.4213 · Spearman 0.8028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rank #39 → Phase 2 rank #9 — 30-place improvement, open-source tools only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BCE reduces inactive over-prediction bias: +0.965 → +0.788 units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expands prediction range: floor 3.07→2.73, ceiling 5.80→6.00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Lessons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8328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cross-validation is unreliable for analog-expansion designs — blind test is the only real signal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8328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ChEMBL data degrades performance — one assay protocol per model, no mixing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38328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BCE hurts potent predictions — asymmetric (inactives only) is the correct design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8328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compounds (65% of test set) drive net accuracy — never sacrifice them for edge cases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5DCA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CA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Directions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structure-aware models: PXR's flexible pocket calls for docking-based 3D features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0936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learning: use potency gradients within analog series to guide synthesis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0936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Uncertainty-aware training: weight loss by pEC50 std error to reduce the noise floor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0936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Graph-transformer hybrid: combine 2D scaffold topology with 3D conformer geometry end-to-end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8554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PXR pEC50 Blind Challenge  ·  Gashaw  ·  June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PXR pEC50 Blind Challenge</dc:title>
  <dc:subject>PptxGenJS Presentation</dc:subject>
  <dc:creator>Gashaw</dc:creator>
  <cp:lastModifiedBy>Gashaw</cp:lastModifiedBy>
  <cp:revision>1</cp:revision>
  <dcterms:created xsi:type="dcterms:W3CDTF">2026-07-04T12:30:57Z</dcterms:created>
  <dcterms:modified xsi:type="dcterms:W3CDTF">2026-07-04T12:30:57Z</dcterms:modified>
</cp:coreProperties>
</file>